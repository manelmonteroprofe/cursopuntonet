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78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731520" y="265471"/>
            <a:ext cx="10789920" cy="549524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817434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s-ES" sz="6000" dirty="0">
                <a:solidFill>
                  <a:srgbClr val="374151"/>
                </a:solidFill>
                <a:latin typeface="Calibri"/>
              </a:rPr>
              <a:t>APUNTES DDL para SQL Server</a:t>
            </a:r>
            <a:endParaRPr sz="6000" dirty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3542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1200" dirty="0">
                <a:solidFill>
                  <a:srgbClr val="374151"/>
                </a:solidFill>
                <a:latin typeface="Calibri"/>
              </a:rPr>
              <a:t>By Manel Montero</a:t>
            </a:r>
            <a:endParaRPr sz="1200" dirty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B2BD25E-90F9-BCD7-905A-3271A5E8DBBA}"/>
              </a:ext>
            </a:extLst>
          </p:cNvPr>
          <p:cNvSpPr txBox="1"/>
          <p:nvPr/>
        </p:nvSpPr>
        <p:spPr>
          <a:xfrm>
            <a:off x="1225748" y="889811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s-ES" sz="6000" dirty="0">
                <a:solidFill>
                  <a:srgbClr val="374151"/>
                </a:solidFill>
                <a:latin typeface="Calibri"/>
              </a:rPr>
              <a:t>Curso de Programación .NET</a:t>
            </a:r>
            <a:endParaRPr sz="6000" dirty="0">
              <a:solidFill>
                <a:srgbClr val="37415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37160" rIns="182880" bIns="9144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DDL en SQL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CREATE · ALTER · DROP  |  Módulo 3: Bases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374151"/>
                </a:solidFill>
                <a:latin typeface="Calibri"/>
              </a:rPr>
              <a:t>Objetivo: dominar los comandos DDL para crear y modificar estructuras (BD, tablas y relaciones).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89920" cy="2926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374151"/>
                </a:solidFill>
                <a:latin typeface="Calibri"/>
              </a:rPr>
              <a:t>• Qué es DDL y para qué se usa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374151"/>
                </a:solidFill>
                <a:latin typeface="Calibri"/>
              </a:rPr>
              <a:t>• CREATE: base de datos, tablas, claves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374151"/>
                </a:solidFill>
                <a:latin typeface="Calibri"/>
              </a:rPr>
              <a:t>• ALTER: cambios habituales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374151"/>
                </a:solidFill>
                <a:latin typeface="Calibri"/>
              </a:rPr>
              <a:t>• DROP: eliminación segura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374151"/>
                </a:solidFill>
                <a:latin typeface="Calibri"/>
              </a:rPr>
              <a:t>• Ejemplo completo: Provincias (madre) → Alumnos (hija) con FK (IdProvincia)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151"/>
                </a:solidFill>
                <a:latin typeface="Calibri"/>
              </a:rPr>
              <a:t>Consejo: ejecuta los scripts en SQL Server Management Studio (SSMS) y revisa el Explorador de objetos.</a:t>
            </a:r>
          </a:p>
        </p:txBody>
      </p:sp>
    </p:spTree>
    <p:extLst>
      <p:ext uri="{BB962C8B-B14F-4D97-AF65-F5344CB8AC3E}">
        <p14:creationId xmlns:p14="http://schemas.microsoft.com/office/powerpoint/2010/main" val="279872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37160" rIns="182880" bIns="9144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1) ¿Qué es DDL?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Data Definition Language: define la estructura de los objetos en la base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9496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94960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DDL en una frase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Permite CREAR, MODIFICAR y ELIMINAR objetos: BD, tablas, vistas, índices, constraints…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Afecta a la estructura, no a los datos (eso es DML: INSERT/UPDATE/DELETE).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En SQL Server, DDL suele ejecutarse con permisos elevados (por ejemplo, db_ddladmin).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7492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074920" cy="4114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Buenas prácticas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11680"/>
            <a:ext cx="4526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Probar primero en una BD de desarrollo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Usar nombres claros (dbo.Alumnos, dbo.Provincias)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Definir claves/constraints desde el inicio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Evitar DROP sin verificación/backup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10744200" cy="219456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Ejemplo mínimo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72000"/>
            <a:ext cx="102870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DDL crea/modifica estructura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CREATE TABLE dbo.Ejemplo (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Id INT NOT NULL PRIMARY KEY,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Nombre NVARCHAR(100) NOT NULL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151"/>
                </a:solidFill>
                <a:latin typeface="Calibri"/>
              </a:rPr>
              <a:t>DDL = estructura. DML = datos. DCL = permisos. TCL = transacciones.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37160" rIns="182880" bIns="9144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2) CREATE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Crear bases de datos, tablas y restricciones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23317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669280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¿Qué se crea con CREATE?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51206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CREATE DATABASE (base de datos)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CREATE TABLE (tablas y columnas)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CREATE INDEX / VIEW / PROCEDURE…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Constraints: PRIMARY KEY, FOREIGN KEY, UNIQUE, CHECK,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92040" cy="233172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1600200"/>
            <a:ext cx="4434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CREATE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965960"/>
            <a:ext cx="4434840" cy="1737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Crear una BD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CREATE DATABASE ColegioDB;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GO</a:t>
            </a:r>
            <a:br/>
            <a:br/>
            <a:r>
              <a:rPr sz="1400">
                <a:solidFill>
                  <a:srgbClr val="E5E7EB"/>
                </a:solidFill>
                <a:latin typeface="Consolas"/>
              </a:rPr>
              <a:t>-- Usar la BD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USE ColegioDB;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0744200" cy="242316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CREATE TABLE + PRIMARY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59"/>
            <a:ext cx="10287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Crear tabla Provincias (madre)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CREATE TABLE dbo.Provincias (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IdProvincia INT IDENTITY(1,1) NOT NULL,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Nombre       NVARCHAR(80) NOT NULL,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CONSTRAINT PK_Provincias PRIMARY KEY (IdProvincia),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CONSTRAINT UQ_Provincias_Nombre UNIQUE (Nombre)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151"/>
                </a:solidFill>
                <a:latin typeface="Calibri"/>
              </a:rPr>
              <a:t>TIP: IDENTITY genera el Id automáticamente (1,1). UNIQUE evita nombres duplicados.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37160" rIns="182880" bIns="9144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3) Ejemplo: tablas y relación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Provincias (tabla madre) → Alumnos (tabla hija) con clave foránea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806440" cy="315468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1) Crear tabla Alumnos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5349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Tabla Alumnos (hija)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CREATE TABLE dbo.Alumnos (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IdAlumno     INT IDENTITY(1,1) NOT NULL,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Nombre       NVARCHAR(60) NOT NULL,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Apellidos    NVARCHAR(80) NOT NULL,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FechaNac     DATE NULL,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  IdProvincia  INT NOT NULL,</a:t>
            </a:r>
            <a:br/>
            <a:br/>
            <a:r>
              <a:rPr sz="1400">
                <a:solidFill>
                  <a:srgbClr val="E5E7EB"/>
                </a:solidFill>
                <a:latin typeface="Consolas"/>
              </a:rPr>
              <a:t>  CONSTRAINT PK_Alumnos PRIMARY KEY (IdAlumno)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463040"/>
            <a:ext cx="4754880" cy="315468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6002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2) Crear la FK (con ALTER)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96596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Relación: Provincias -&gt; Alumnos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ALTER TABLE dbo.Alumnos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ADD CONSTRAINT FK_Alumnos_Provincias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FOREIGN KEY (IdProvincia)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REFERENCES dbo.Provincias (IdProvincia);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44200" cy="1691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10744200" cy="4114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¿Qué garantiza la FK?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303520"/>
            <a:ext cx="10195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No puedes insertar un alumno con IdProvincia que no exista en Provincias.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Evita datos “huérfanos” y mantiene integridad referencial.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Opcional: puedes definir ON DELETE/ON UPDATE (con cuidado).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151"/>
                </a:solidFill>
                <a:latin typeface="Calibri"/>
              </a:rPr>
              <a:t>En la práctica: primero crea la tabla madre (Provincias) y después la hija (Alumnos).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37160" rIns="182880" bIns="9144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4) ALTER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Modificar objetos existentes (sin recrearlos)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57784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577840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Operaciones típicas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Añadir/Eliminar columnas: ADD / DROP COLUMN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Cambiar tipo/tamaño: ALTER COLUMN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Añadir constraints: PK, FK, CHECK, DEFAULT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Renombrar: mejor con scripts controlados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83480" cy="256032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Ejemplos ALTER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65960"/>
            <a:ext cx="4526280" cy="1965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Añadir una columna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ALTER TABLE dbo.Alumnos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ADD Email NVARCHAR(120) NULL;</a:t>
            </a:r>
            <a:br/>
            <a:br/>
            <a:r>
              <a:rPr sz="1400">
                <a:solidFill>
                  <a:srgbClr val="E5E7EB"/>
                </a:solidFill>
                <a:latin typeface="Consolas"/>
              </a:rPr>
              <a:t>-- Modificar tamaño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ALTER TABLE dbo.Alumnos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ALTER COLUMN Nombre NVARCHAR(80) NOT NULL;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744200" cy="233172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43484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Añadir CHECK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10287000" cy="1737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Añadir una regla (CHECK)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ALTER TABLE dbo.Alumnos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ADD CONSTRAINT CK_Alumnos_FechaNac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CHECK (FechaNac IS NULL OR FechaNac &lt;= GETDATE());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151"/>
                </a:solidFill>
                <a:latin typeface="Calibri"/>
              </a:rPr>
              <a:t>ALTER es tu herramienta principal para evolucionar el esquema de una BD.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37160" rIns="182880" bIns="9144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5)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Eliminar objetos del esquema (¡irreversible si no hay backup!)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715000" cy="2468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715000" cy="4114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Qué hace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Elimina por completo el objeto (tabla, BD, constraint, etc.)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En el caso de tablas, se pierden también los datos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• Puede fallar si hay dependencias (por ejemplo, una FK)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63040"/>
            <a:ext cx="4846320" cy="246888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Eliminar con dependencias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4389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Eliminar FK primero (si existe)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ALTER TABLE dbo.Alumnos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DROP CONSTRAINT FK_Alumnos_Provincias;</a:t>
            </a:r>
            <a:br/>
            <a:br/>
            <a:r>
              <a:rPr sz="1400">
                <a:solidFill>
                  <a:srgbClr val="E5E7EB"/>
                </a:solidFill>
                <a:latin typeface="Consolas"/>
              </a:rPr>
              <a:t>-- Eliminar tablas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DROP TABLE dbo.Alumnos;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DROP TABLE dbo.Provincias;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44200" cy="242316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DROP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09159"/>
            <a:ext cx="10287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-- Eliminar la BD (asegúrate de no estar usándola)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USE master;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GO</a:t>
            </a:r>
            <a:br/>
            <a:r>
              <a:rPr sz="1400">
                <a:solidFill>
                  <a:srgbClr val="E5E7EB"/>
                </a:solidFill>
                <a:latin typeface="Consolas"/>
              </a:rPr>
              <a:t>DROP DATABASE ColegioDB;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151"/>
                </a:solidFill>
                <a:latin typeface="Calibri"/>
              </a:rPr>
              <a:t>Regla de oro: antes de DROP, verifica dependencias y asegúrate de tener copia/backup.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37160" rIns="182880" bIns="9144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6) Script completo del ejercicio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Crea BD, tablas, PK y FK (Provincias → Alumnos)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109960" cy="539496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19"/>
            <a:ext cx="10652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F3D0"/>
                </a:solidFill>
                <a:latin typeface="Calibri"/>
              </a:rPr>
              <a:t>Script listo para ejecutar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52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5E7EB"/>
                </a:solidFill>
                <a:latin typeface="Consolas"/>
              </a:rPr>
              <a:t>/* 1)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Crear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BD */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CREATE DATABASE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ColegioDB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;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GO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USE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ColegioDB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;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GO</a:t>
            </a:r>
            <a:br>
              <a:rPr dirty="0"/>
            </a:b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/* 2)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Tabla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madre */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CREATE TABLE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dbo.Provincias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(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IdProvincia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INT IDENTITY(1,1) NOT NULL,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Nombre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NVARCHAR(80) NOT NULL,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CONSTRAINT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PK_Provincias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PRIMARY KEY (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IdProvincia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)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);</a:t>
            </a:r>
            <a:br>
              <a:rPr dirty="0"/>
            </a:b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/* 3)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Tabla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hija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*/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CREATE TABLE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dbo.Alumnos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(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IdAlumno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INT IDENTITY(1,1) NOT NULL,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Nombre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NVARCHAR(60) NOT NULL,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Apellidos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NVARCHAR(80) NOT NULL,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IdProvincia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INT NOT NULL,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CONSTRAINT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PK_Alumnos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PRIMARY KEY (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IdAlumno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),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CONSTRAINT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FK_Alumnos_Provincias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FOREIGN KEY (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IdProvincia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)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    REFERENCES 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dbo.Provincias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 (</a:t>
            </a:r>
            <a:r>
              <a:rPr sz="1400" dirty="0" err="1">
                <a:solidFill>
                  <a:srgbClr val="E5E7EB"/>
                </a:solidFill>
                <a:latin typeface="Consolas"/>
              </a:rPr>
              <a:t>IdProvincia</a:t>
            </a:r>
            <a:r>
              <a:rPr sz="1400" dirty="0">
                <a:solidFill>
                  <a:srgbClr val="E5E7EB"/>
                </a:solidFill>
                <a:latin typeface="Consolas"/>
              </a:rPr>
              <a:t>)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);</a:t>
            </a:r>
            <a:br>
              <a:rPr dirty="0"/>
            </a:br>
            <a:r>
              <a:rPr sz="1400" dirty="0">
                <a:solidFill>
                  <a:srgbClr val="E5E7EB"/>
                </a:solidFill>
                <a:latin typeface="Consolas"/>
              </a:rPr>
              <a:t>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446520"/>
            <a:ext cx="1110996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51052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Siguiente práctica (DML): INSERT en Provincias y Alumnos y comprueba que la FK bloquea IdProvincia inexistentes.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1137</Words>
  <Application>Microsoft Office PowerPoint</Application>
  <PresentationFormat>Panorámica</PresentationFormat>
  <Paragraphs>77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Manuel Montero Jiménez</cp:lastModifiedBy>
  <cp:revision>2</cp:revision>
  <dcterms:created xsi:type="dcterms:W3CDTF">2013-01-27T09:14:16Z</dcterms:created>
  <dcterms:modified xsi:type="dcterms:W3CDTF">2026-02-17T08:23:18Z</dcterms:modified>
  <cp:category/>
</cp:coreProperties>
</file>