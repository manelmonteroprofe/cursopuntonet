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698480" cy="39319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0F172A"/>
                </a:solidFill>
                <a:latin typeface="Calibri"/>
              </a:rPr>
              <a:t>DML en SQL Server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6517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2563EB"/>
                </a:solidFill>
                <a:latin typeface="Calibri"/>
              </a:rPr>
              <a:t>SELECT · INSERT · UPDATE · DELETE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1546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4155"/>
                </a:solidFill>
                <a:latin typeface="Calibri"/>
              </a:defRPr>
            </a:pPr>
            <a:r>
              <a:t>Ejemplos con tablas Provincias (madre) y Alumnos (hija) + relación PK/FK (IdProvincia)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794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Módulo 3 · Bases de Datos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73952"/>
            <a:ext cx="11247120" cy="9144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Calibri"/>
              </a:rPr>
              <a:t>Módulo 3 · SQL Server · DML (SELECT/INSERT/UPDATE/DELETE)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Calibri"/>
              </a:rPr>
              <a:t>Objetivos del tema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34155"/>
                </a:solidFill>
                <a:latin typeface="Calibri"/>
              </a:rPr>
              <a:t>Qué vas a ser capaz de hacer al terminar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Entender qué es DML y en qué se diferencia de DDL.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Consultar datos con SELECT (filtros, ordenación y JOIN).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Insertar datos con INSERT (incluyendo inserciones en lote).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Modificar datos con UPDATE (con WHERE y con JOIN).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Eliminar datos con DELETE (y buenas prácticas para evitar borrados accidentales).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Trabajar con una relación 1-N: Provincias → Alumnos (IdProvincia como FK).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486400"/>
            <a:ext cx="10972800" cy="82296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563EB"/>
                </a:solidFill>
                <a:latin typeface="Calibri"/>
              </a:rPr>
              <a:t>Idea clave</a:t>
            </a:r>
          </a:p>
          <a:p>
            <a:pPr>
              <a:defRPr sz="1400">
                <a:solidFill>
                  <a:srgbClr val="0F172A"/>
                </a:solidFill>
                <a:latin typeface="Calibri"/>
              </a:defRPr>
            </a:pPr>
            <a:r>
              <a:t>DML = operaciones sobre los DATOS (filas). DDL = operaciones sobre la ESTRUCTURA (tablas, columnas, claves...).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73952"/>
            <a:ext cx="11247120" cy="9144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10528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Calibri"/>
              </a:rPr>
              <a:t>Módulo 3 · SQL Server · DML (SELECT/INSERT/UPDATE/DELETE)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Calibri"/>
              </a:rPr>
              <a:t>Modelo de datos de ejemplo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34155"/>
                </a:solidFill>
                <a:latin typeface="Calibri"/>
              </a:rPr>
              <a:t>Tablas y relación Provincias → Alumnos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43000"/>
            <a:ext cx="539496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234440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PROVINCIAS (madre)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48463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4155"/>
                </a:solidFill>
                <a:latin typeface="Calibri"/>
              </a:defRPr>
            </a:pPr>
            <a:r>
              <a:t>IdProvincia  (PK)</a:t>
            </a:r>
          </a:p>
          <a:p>
            <a:pPr>
              <a:defRPr sz="1600">
                <a:solidFill>
                  <a:srgbClr val="334155"/>
                </a:solidFill>
                <a:latin typeface="Calibri"/>
              </a:defRPr>
            </a:pPr>
            <a:r>
              <a:t>Nombre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43000"/>
            <a:ext cx="539496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234440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ALUMNOS (hija)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600200"/>
            <a:ext cx="484632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4155"/>
                </a:solidFill>
                <a:latin typeface="Calibri"/>
              </a:defRPr>
            </a:pPr>
            <a:r>
              <a:t>IdAlumno  (PK)</a:t>
            </a:r>
          </a:p>
          <a:p>
            <a:pPr>
              <a:defRPr sz="1600">
                <a:solidFill>
                  <a:srgbClr val="334155"/>
                </a:solidFill>
                <a:latin typeface="Calibri"/>
              </a:defRPr>
            </a:pPr>
            <a:r>
              <a:t>Nombre</a:t>
            </a:r>
          </a:p>
          <a:p>
            <a:pPr>
              <a:defRPr sz="1600">
                <a:solidFill>
                  <a:srgbClr val="334155"/>
                </a:solidFill>
                <a:latin typeface="Calibri"/>
              </a:defRPr>
            </a:pPr>
            <a:r>
              <a:t>Apellido</a:t>
            </a:r>
          </a:p>
          <a:p>
            <a:pPr>
              <a:defRPr sz="1600">
                <a:solidFill>
                  <a:srgbClr val="334155"/>
                </a:solidFill>
                <a:latin typeface="Calibri"/>
              </a:defRPr>
            </a:pPr>
            <a:r>
              <a:t>FechaNacimiento</a:t>
            </a:r>
          </a:p>
          <a:p>
            <a:pPr>
              <a:defRPr sz="1600">
                <a:solidFill>
                  <a:srgbClr val="334155"/>
                </a:solidFill>
                <a:latin typeface="Calibri"/>
              </a:defRPr>
            </a:pPr>
            <a:r>
              <a:t>IdProvincia  (FK → Provincias.IdProvincia)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715000" y="1965960"/>
            <a:ext cx="822960" cy="457200"/>
          </a:xfrm>
          <a:prstGeom prst="rightArrow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15000" y="1691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2563EB"/>
                </a:solidFill>
              </a:defRPr>
            </a:pPr>
            <a:r>
              <a:t>1 → 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069080"/>
            <a:ext cx="10972800" cy="155448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563EB"/>
                </a:solidFill>
                <a:latin typeface="Calibri"/>
              </a:rPr>
              <a:t>Regla de integridad referencial</a:t>
            </a:r>
          </a:p>
          <a:p>
            <a:pPr>
              <a:defRPr sz="1400">
                <a:solidFill>
                  <a:srgbClr val="0F172A"/>
                </a:solidFill>
                <a:latin typeface="Calibri"/>
              </a:defRPr>
            </a:pPr>
            <a:r>
              <a:t>Un alumno NO puede tener IdProvincia que no exista en Provincias.</a:t>
            </a:r>
            <a:br/>
            <a:r>
              <a:t>Esto evita datos “huérfanos” y mejora la consistencia.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473952"/>
            <a:ext cx="11247120" cy="9144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510528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Calibri"/>
              </a:rPr>
              <a:t>Módulo 3 · SQL Server · DML (SELECT/INSERT/UPDATE/DELETE)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Calibri"/>
              </a:rPr>
              <a:t>Preparación del ejemplo (DDL mínimo)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34155"/>
                </a:solidFill>
                <a:latin typeface="Calibri"/>
              </a:rPr>
              <a:t>Estructura necesaria para practicar DML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005840"/>
            <a:ext cx="10972800" cy="82296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563EB"/>
                </a:solidFill>
                <a:latin typeface="Calibri"/>
              </a:rPr>
              <a:t>Nota</a:t>
            </a:r>
          </a:p>
          <a:p>
            <a:pPr>
              <a:defRPr sz="1400">
                <a:solidFill>
                  <a:srgbClr val="0F172A"/>
                </a:solidFill>
                <a:latin typeface="Calibri"/>
              </a:defRPr>
            </a:pPr>
            <a:r>
              <a:t>El foco hoy es DML, pero necesitas estas tablas para ejecutar los ejemplos. Cópialo en SSMS y ejecútalo.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099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34155"/>
                </a:solidFill>
                <a:latin typeface="Calibri"/>
              </a:rPr>
              <a:t>Script de creación (para el aula)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65960"/>
            <a:ext cx="10972800" cy="4297680"/>
          </a:xfrm>
          <a:prstGeom prst="roundRect">
            <a:avLst/>
          </a:prstGeom>
          <a:solidFill>
            <a:srgbClr val="0B1020"/>
          </a:solidFill>
          <a:ln>
            <a:solidFill>
              <a:srgbClr val="0B1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E2E8F0"/>
                </a:solidFill>
                <a:latin typeface="Consolas"/>
              </a:defRPr>
            </a:pPr>
            <a:r>
              <a:t>-- Base de datos (opcional si ya existe)</a:t>
            </a:r>
            <a:br/>
            <a:r>
              <a:t>CREATE DATABASE Escuela;</a:t>
            </a:r>
            <a:br/>
            <a:r>
              <a:t>GO</a:t>
            </a:r>
            <a:br/>
            <a:r>
              <a:t>USE Escuela;</a:t>
            </a:r>
            <a:br/>
            <a:r>
              <a:t>GO</a:t>
            </a:r>
            <a:br/>
            <a:br/>
            <a:r>
              <a:t>CREATE TABLE Provincias(</a:t>
            </a:r>
            <a:br/>
            <a:r>
              <a:t>  IdProvincia INT IDENTITY(1,1) NOT NULL,</a:t>
            </a:r>
            <a:br/>
            <a:r>
              <a:t>  Nombre      NVARCHAR(50) NOT NULL,</a:t>
            </a:r>
            <a:br/>
            <a:r>
              <a:t>  CONSTRAINT PK_Provincias PRIMARY KEY (IdProvincia)</a:t>
            </a:r>
            <a:br/>
            <a:r>
              <a:t>);</a:t>
            </a:r>
            <a:br/>
            <a:br/>
            <a:r>
              <a:t>CREATE TABLE Alumnos(</a:t>
            </a:r>
            <a:br/>
            <a:r>
              <a:t>  IdAlumno        INT IDENTITY(1,1) NOT NULL,</a:t>
            </a:r>
            <a:br/>
            <a:r>
              <a:t>  Nombre          NVARCHAR(50) NOT NULL,</a:t>
            </a:r>
            <a:br/>
            <a:r>
              <a:t>  Apellido        NVARCHAR(50) NOT NULL,</a:t>
            </a:r>
            <a:br/>
            <a:r>
              <a:t>  FechaNacimiento DATE NULL,</a:t>
            </a:r>
            <a:br/>
            <a:r>
              <a:t>  IdProvincia     INT NOT NULL,</a:t>
            </a:r>
            <a:br/>
            <a:r>
              <a:t>  CONSTRAINT PK_Alumnos PRIMARY KEY (IdAlumno),</a:t>
            </a:r>
            <a:br/>
            <a:r>
              <a:t>  CONSTRAINT FK_Alumnos_Provincias</a:t>
            </a:r>
            <a:br/>
            <a:r>
              <a:t>    FOREIGN KEY (IdProvincia) REFERENCES Provincias(IdProvincia)</a:t>
            </a:r>
            <a:br/>
            <a:r>
              <a:t>);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73952"/>
            <a:ext cx="11247120" cy="9144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Calibri"/>
              </a:rPr>
              <a:t>Módulo 3 · SQL Server · DML (SELECT/INSERT/UPDATE/DELETE)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Calibri"/>
              </a:rPr>
              <a:t>SELECT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34155"/>
                </a:solidFill>
                <a:latin typeface="Calibri"/>
              </a:rPr>
              <a:t>Consultar datos (leer filas)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5669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Devuelve filas de una o varias tablas.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Usa WHERE para filtrar.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Usa ORDER BY para ordenar.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Usa JOIN para combinar tablas relacionadas.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Buenas prácticas: seleccionar columnas (evitar SELECT * en producción).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069848"/>
            <a:ext cx="4937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34155"/>
                </a:solidFill>
                <a:latin typeface="Calibri"/>
              </a:rPr>
              <a:t>Ejemplo básico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325880"/>
            <a:ext cx="4937760" cy="2834640"/>
          </a:xfrm>
          <a:prstGeom prst="roundRect">
            <a:avLst/>
          </a:prstGeom>
          <a:solidFill>
            <a:srgbClr val="0B1020"/>
          </a:solidFill>
          <a:ln>
            <a:solidFill>
              <a:srgbClr val="0B1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E2E8F0"/>
                </a:solidFill>
                <a:latin typeface="Consolas"/>
              </a:defRPr>
            </a:pPr>
            <a:r>
              <a:t>-- Columnas concretas</a:t>
            </a:r>
            <a:br/>
            <a:r>
              <a:t>SELECT IdAlumno, Nombre, Apellido</a:t>
            </a:r>
            <a:br/>
            <a:r>
              <a:t>FROM Alumnos</a:t>
            </a:r>
            <a:br/>
            <a:r>
              <a:t>ORDER BY Apellido, Nombre;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4178807"/>
            <a:ext cx="4937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34155"/>
                </a:solidFill>
                <a:latin typeface="Calibri"/>
              </a:rPr>
              <a:t>Filtrado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4434840"/>
            <a:ext cx="4937760" cy="2103120"/>
          </a:xfrm>
          <a:prstGeom prst="roundRect">
            <a:avLst/>
          </a:prstGeom>
          <a:solidFill>
            <a:srgbClr val="0B1020"/>
          </a:solidFill>
          <a:ln>
            <a:solidFill>
              <a:srgbClr val="0B1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E2E8F0"/>
                </a:solidFill>
                <a:latin typeface="Consolas"/>
              </a:defRPr>
            </a:pPr>
            <a:r>
              <a:t>-- Filtro con WHERE</a:t>
            </a:r>
            <a:br/>
            <a:r>
              <a:t>SELECT *</a:t>
            </a:r>
            <a:br/>
            <a:r>
              <a:t>FROM Alumnos</a:t>
            </a:r>
            <a:br/>
            <a:r>
              <a:t>WHERE IdProvincia = 3;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47120" cy="9144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510528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Calibri"/>
              </a:rPr>
              <a:t>Módulo 3 · SQL Server · DML (SELECT/INSERT/UPDATE/DELETE)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Calibri"/>
              </a:rPr>
              <a:t>SELECT con JOIN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34155"/>
                </a:solidFill>
                <a:latin typeface="Calibri"/>
              </a:rPr>
              <a:t>Relacionar Provincias (madre) con Alumnos (hija)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005840"/>
            <a:ext cx="10972800" cy="82296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563EB"/>
                </a:solidFill>
                <a:latin typeface="Calibri"/>
              </a:rPr>
              <a:t>Idea</a:t>
            </a:r>
          </a:p>
          <a:p>
            <a:pPr>
              <a:defRPr sz="1400">
                <a:solidFill>
                  <a:srgbClr val="0F172A"/>
                </a:solidFill>
                <a:latin typeface="Calibri"/>
              </a:defRPr>
            </a:pPr>
            <a:r>
              <a:t>JOIN te permite “pegar” filas de tablas distintas usando la clave foránea.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099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34155"/>
                </a:solidFill>
                <a:latin typeface="Calibri"/>
              </a:rPr>
              <a:t>INNER JOIN (lo más común)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65960"/>
            <a:ext cx="10972800" cy="4480560"/>
          </a:xfrm>
          <a:prstGeom prst="roundRect">
            <a:avLst/>
          </a:prstGeom>
          <a:solidFill>
            <a:srgbClr val="0B1020"/>
          </a:solidFill>
          <a:ln>
            <a:solidFill>
              <a:srgbClr val="0B1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E2E8F0"/>
                </a:solidFill>
                <a:latin typeface="Consolas"/>
              </a:defRPr>
            </a:pPr>
            <a:r>
              <a:t>-- Listado de alumnos con el nombre de su provincia</a:t>
            </a:r>
            <a:br/>
            <a:r>
              <a:t>SELECT </a:t>
            </a:r>
            <a:br/>
            <a:r>
              <a:t>  a.IdAlumno,</a:t>
            </a:r>
            <a:br/>
            <a:r>
              <a:t>  a.Nombre,</a:t>
            </a:r>
            <a:br/>
            <a:r>
              <a:t>  a.Apellido,</a:t>
            </a:r>
            <a:br/>
            <a:r>
              <a:t>  p.Nombre AS Provincia</a:t>
            </a:r>
            <a:br/>
            <a:r>
              <a:t>FROM Alumnos a</a:t>
            </a:r>
            <a:br/>
            <a:r>
              <a:t>INNER JOIN Provincias p</a:t>
            </a:r>
            <a:br/>
            <a:r>
              <a:t>  ON a.IdProvincia = p.IdProvincia</a:t>
            </a:r>
            <a:br/>
            <a:r>
              <a:t>ORDER BY p.Nombre, a.Apellido, a.Nombre;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73952"/>
            <a:ext cx="11247120" cy="9144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Calibri"/>
              </a:rPr>
              <a:t>Módulo 3 · SQL Server · DML (SELECT/INSERT/UPDATE/DELETE)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Calibri"/>
              </a:rPr>
              <a:t>INSERT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34155"/>
                </a:solidFill>
                <a:latin typeface="Calibri"/>
              </a:rPr>
              <a:t>Insertar filas (crear datos)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5669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Inserta una fila en una tabla.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Debes cumplir NOT NULL, PK y FK.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Puedes insertar varias filas en una sola instrucción.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Si hay IDENTITY, NO insertes el Id (lo genera SQL Server).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069848"/>
            <a:ext cx="4937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34155"/>
                </a:solidFill>
                <a:latin typeface="Calibri"/>
              </a:rPr>
              <a:t>INSERT en lote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325880"/>
            <a:ext cx="4937760" cy="3017520"/>
          </a:xfrm>
          <a:prstGeom prst="roundRect">
            <a:avLst/>
          </a:prstGeom>
          <a:solidFill>
            <a:srgbClr val="0B1020"/>
          </a:solidFill>
          <a:ln>
            <a:solidFill>
              <a:srgbClr val="0B1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E2E8F0"/>
                </a:solidFill>
                <a:latin typeface="Consolas"/>
              </a:defRPr>
            </a:pPr>
            <a:r>
              <a:t>-- Insertar provincias</a:t>
            </a:r>
            <a:br/>
            <a:r>
              <a:t>INSERT INTO Provincias (Nombre)</a:t>
            </a:r>
            <a:br/>
            <a:r>
              <a:t>VALUES ('Madrid'), ('Barcelona'), ('Sevilla'), ('Valencia');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4361688"/>
            <a:ext cx="4937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34155"/>
                </a:solidFill>
                <a:latin typeface="Calibri"/>
              </a:rPr>
              <a:t>INSERT alumno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4617720"/>
            <a:ext cx="4937760" cy="2011680"/>
          </a:xfrm>
          <a:prstGeom prst="roundRect">
            <a:avLst/>
          </a:prstGeom>
          <a:solidFill>
            <a:srgbClr val="0B1020"/>
          </a:solidFill>
          <a:ln>
            <a:solidFill>
              <a:srgbClr val="0B1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E2E8F0"/>
                </a:solidFill>
                <a:latin typeface="Consolas"/>
              </a:defRPr>
            </a:pPr>
            <a:r>
              <a:t>-- Insertar alumnos (IdProvincia debe existir)</a:t>
            </a:r>
            <a:br/>
            <a:r>
              <a:t>INSERT INTO Alumnos (Nombre, Apellido, FechaNacimiento, IdProvincia)</a:t>
            </a:r>
            <a:br/>
            <a:r>
              <a:t>VALUES ('Ana','López','2002-05-10', 1);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47120" cy="9144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510528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Calibri"/>
              </a:rPr>
              <a:t>Módulo 3 · SQL Server · DML (SELECT/INSERT/UPDATE/DELETE)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Calibri"/>
              </a:rPr>
              <a:t>INSERT y claves foráneas (FK)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34155"/>
                </a:solidFill>
                <a:latin typeface="Calibri"/>
              </a:rPr>
              <a:t>Errores típicos y cómo evitarlos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005840"/>
            <a:ext cx="10972800" cy="109728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563EB"/>
                </a:solidFill>
                <a:latin typeface="Calibri"/>
              </a:rPr>
              <a:t>Qué puede fallar</a:t>
            </a:r>
          </a:p>
          <a:p>
            <a:pPr>
              <a:defRPr sz="1400">
                <a:solidFill>
                  <a:srgbClr val="0F172A"/>
                </a:solidFill>
                <a:latin typeface="Calibri"/>
              </a:defRPr>
            </a:pPr>
            <a:r>
              <a:t>Si intentas insertar un alumno con IdProvincia inexistente, SQL Server lo rechazará.</a:t>
            </a:r>
            <a:br/>
            <a:r>
              <a:t>Primero inserta en la tabla MADRE (Provincias), después en la HIJA (Alumnos).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75687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34155"/>
                </a:solidFill>
                <a:latin typeface="Calibri"/>
              </a:rPr>
              <a:t>Ejemplo de error por FK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31720"/>
            <a:ext cx="10972800" cy="2468880"/>
          </a:xfrm>
          <a:prstGeom prst="roundRect">
            <a:avLst/>
          </a:prstGeom>
          <a:solidFill>
            <a:srgbClr val="0B1020"/>
          </a:solidFill>
          <a:ln>
            <a:solidFill>
              <a:srgbClr val="0B1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E2E8F0"/>
                </a:solidFill>
                <a:latin typeface="Consolas"/>
              </a:defRPr>
            </a:pPr>
            <a:r>
              <a:t>-- Esto fallará si no existe IdProvincia = 99</a:t>
            </a:r>
            <a:br/>
            <a:r>
              <a:t>INSERT INTO Alumnos (Nombre, Apellido, FechaNacimiento, IdProvincia)</a:t>
            </a:r>
            <a:br/>
            <a:r>
              <a:t>VALUES ('Luis','García','2001-11-02', 99);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81888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34155"/>
                </a:solidFill>
                <a:latin typeface="Calibri"/>
              </a:rPr>
              <a:t>Consejo práctico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074920"/>
            <a:ext cx="10972800" cy="1554480"/>
          </a:xfrm>
          <a:prstGeom prst="roundRect">
            <a:avLst/>
          </a:prstGeom>
          <a:solidFill>
            <a:srgbClr val="0B1020"/>
          </a:solidFill>
          <a:ln>
            <a:solidFill>
              <a:srgbClr val="0B1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E2E8F0"/>
                </a:solidFill>
                <a:latin typeface="Consolas"/>
              </a:defRPr>
            </a:pPr>
            <a:r>
              <a:t>-- Comprobar qué IdProvincia existe</a:t>
            </a:r>
            <a:br/>
            <a:r>
              <a:t>SELECT * FROM Provincias ORDER BY IdProvincia;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47120" cy="9144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510528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Calibri"/>
              </a:rPr>
              <a:t>Módulo 3 · SQL Server · DML (SELECT/INSERT/UPDATE/DELETE)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Calibri"/>
              </a:rPr>
              <a:t>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34155"/>
                </a:solidFill>
                <a:latin typeface="Calibri"/>
              </a:rPr>
              <a:t>Modificar filas (cambiar datos)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5669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Actualiza columnas de una o varias filas.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MUY importante: usar WHERE para no actualizar toda la tabla.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Puedes actualizar campos simples (Nombre/Apellido) o campos de relación (IdProvincia).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Antes de ejecutar: haz un SELECT con el mismo WHERE para ver qué vas a tocar.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069848"/>
            <a:ext cx="4937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34155"/>
                </a:solidFill>
                <a:latin typeface="Calibri"/>
              </a:rPr>
              <a:t>UPDATE con WHERE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325880"/>
            <a:ext cx="4937760" cy="2560320"/>
          </a:xfrm>
          <a:prstGeom prst="roundRect">
            <a:avLst/>
          </a:prstGeom>
          <a:solidFill>
            <a:srgbClr val="0B1020"/>
          </a:solidFill>
          <a:ln>
            <a:solidFill>
              <a:srgbClr val="0B1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E2E8F0"/>
                </a:solidFill>
                <a:latin typeface="Consolas"/>
              </a:defRPr>
            </a:pPr>
            <a:r>
              <a:t>-- Cambiar apellido de un alumno</a:t>
            </a:r>
            <a:br/>
            <a:r>
              <a:t>UPDATE Alumnos</a:t>
            </a:r>
            <a:br/>
            <a:r>
              <a:t>SET Apellido = 'Pérez'</a:t>
            </a:r>
            <a:br/>
            <a:r>
              <a:t>WHERE IdAlumno = 1;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3995928"/>
            <a:ext cx="4937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34155"/>
                </a:solidFill>
                <a:latin typeface="Calibri"/>
              </a:rPr>
              <a:t>UPDATE de la FK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4251960"/>
            <a:ext cx="4937760" cy="2286000"/>
          </a:xfrm>
          <a:prstGeom prst="roundRect">
            <a:avLst/>
          </a:prstGeom>
          <a:solidFill>
            <a:srgbClr val="0B1020"/>
          </a:solidFill>
          <a:ln>
            <a:solidFill>
              <a:srgbClr val="0B1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E2E8F0"/>
                </a:solidFill>
                <a:latin typeface="Consolas"/>
              </a:defRPr>
            </a:pPr>
            <a:r>
              <a:t>-- Mover alumno a otra provincia (debe existir)</a:t>
            </a:r>
            <a:br/>
            <a:r>
              <a:t>UPDATE Alumnos</a:t>
            </a:r>
            <a:br/>
            <a:r>
              <a:t>SET IdProvincia = 2</a:t>
            </a:r>
            <a:br/>
            <a:r>
              <a:t>WHERE IdAlumno = 1;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47120" cy="9144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510528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Calibri"/>
              </a:rPr>
              <a:t>Módulo 3 · SQL Server · DML (SELECT/INSERT/UPDATE/DELETE)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Calibri"/>
              </a:rPr>
              <a:t>UPDATE con JOIN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34155"/>
                </a:solidFill>
                <a:latin typeface="Calibri"/>
              </a:rPr>
              <a:t>Actualizar usando datos de otra tabla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005840"/>
            <a:ext cx="10972800" cy="82296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563EB"/>
                </a:solidFill>
                <a:latin typeface="Calibri"/>
              </a:rPr>
              <a:t>Cuándo se usa</a:t>
            </a:r>
          </a:p>
          <a:p>
            <a:pPr>
              <a:defRPr sz="1400">
                <a:solidFill>
                  <a:srgbClr val="0F172A"/>
                </a:solidFill>
                <a:latin typeface="Calibri"/>
              </a:defRPr>
            </a:pPr>
            <a:r>
              <a:t>Cuando tu condición depende de otra tabla (por ejemplo, actualizar alumnos de una provincia concreta por nombre).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099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34155"/>
                </a:solidFill>
                <a:latin typeface="Calibri"/>
              </a:rPr>
              <a:t>UPDATE ... FROM ... JOIN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65960"/>
            <a:ext cx="10972800" cy="4480560"/>
          </a:xfrm>
          <a:prstGeom prst="roundRect">
            <a:avLst/>
          </a:prstGeom>
          <a:solidFill>
            <a:srgbClr val="0B1020"/>
          </a:solidFill>
          <a:ln>
            <a:solidFill>
              <a:srgbClr val="0B1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E2E8F0"/>
                </a:solidFill>
                <a:latin typeface="Consolas"/>
              </a:defRPr>
            </a:pPr>
            <a:r>
              <a:t>-- Ejemplo: pasar alumnos de 'Madrid' a 'Valencia'</a:t>
            </a:r>
            <a:br/>
            <a:r>
              <a:t>UPDATE a</a:t>
            </a:r>
            <a:br/>
            <a:r>
              <a:t>SET a.IdProvincia = pNueva.IdProvincia</a:t>
            </a:r>
            <a:br/>
            <a:r>
              <a:t>FROM Alumnos a</a:t>
            </a:r>
            <a:br/>
            <a:r>
              <a:t>INNER JOIN Provincias pActual</a:t>
            </a:r>
            <a:br/>
            <a:r>
              <a:t>  ON a.IdProvincia = pActual.IdProvincia</a:t>
            </a:r>
            <a:br/>
            <a:r>
              <a:t>INNER JOIN Provincias pNueva</a:t>
            </a:r>
            <a:br/>
            <a:r>
              <a:t>  ON pNueva.Nombre = 'Valencia'</a:t>
            </a:r>
            <a:br/>
            <a:r>
              <a:t>WHERE pActual.Nombre = 'Madrid';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73952"/>
            <a:ext cx="11247120" cy="9144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Calibri"/>
              </a:rPr>
              <a:t>Módulo 3 · SQL Server · DML (SELECT/INSERT/UPDATE/DELETE)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Calibri"/>
              </a:rPr>
              <a:t>DELETE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34155"/>
                </a:solidFill>
                <a:latin typeface="Calibri"/>
              </a:rPr>
              <a:t>Eliminar filas (borrar datos)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56692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Elimina filas de una tabla.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MUY importante: WHERE. Sin WHERE borrarías TODO.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Cuidado con relaciones: no puedes borrar una provincia si tiene alumnos (salvo CASCADE).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Alternativa habitual: borrado lógico (campo Activo/FechaBaja) en lugar de DELETE.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069848"/>
            <a:ext cx="4937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34155"/>
                </a:solidFill>
                <a:latin typeface="Calibri"/>
              </a:rPr>
              <a:t>DELETE seguro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325880"/>
            <a:ext cx="4937760" cy="2560320"/>
          </a:xfrm>
          <a:prstGeom prst="roundRect">
            <a:avLst/>
          </a:prstGeom>
          <a:solidFill>
            <a:srgbClr val="0B1020"/>
          </a:solidFill>
          <a:ln>
            <a:solidFill>
              <a:srgbClr val="0B1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E2E8F0"/>
                </a:solidFill>
                <a:latin typeface="Consolas"/>
              </a:defRPr>
            </a:pPr>
            <a:r>
              <a:t>-- Borrar un alumno</a:t>
            </a:r>
            <a:br/>
            <a:r>
              <a:t>DELETE FROM Alumnos</a:t>
            </a:r>
            <a:br/>
            <a:r>
              <a:t>WHERE IdAlumno = 1;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3995928"/>
            <a:ext cx="4937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34155"/>
                </a:solidFill>
                <a:latin typeface="Calibri"/>
              </a:rPr>
              <a:t>Error típico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4251960"/>
            <a:ext cx="4937760" cy="2286000"/>
          </a:xfrm>
          <a:prstGeom prst="roundRect">
            <a:avLst/>
          </a:prstGeom>
          <a:solidFill>
            <a:srgbClr val="0B1020"/>
          </a:solidFill>
          <a:ln>
            <a:solidFill>
              <a:srgbClr val="0B1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E2E8F0"/>
                </a:solidFill>
                <a:latin typeface="Consolas"/>
              </a:defRPr>
            </a:pPr>
            <a:r>
              <a:t>-- ¡Peligro!</a:t>
            </a:r>
            <a:br/>
            <a:r>
              <a:t>-- DELETE FROM Alumnos;  -- borra todo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47120" cy="9144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510528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Calibri"/>
              </a:rPr>
              <a:t>Módulo 3 · SQL Server · DML (SELECT/INSERT/UPDATE/DELETE)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Calibri"/>
              </a:rPr>
              <a:t>DELETE y relaciones PK/FK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34155"/>
                </a:solidFill>
                <a:latin typeface="Calibri"/>
              </a:rPr>
              <a:t>Qué pasa al borrar una fila madre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005840"/>
            <a:ext cx="10972800" cy="109728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563EB"/>
                </a:solidFill>
                <a:latin typeface="Calibri"/>
              </a:rPr>
              <a:t>Escenario</a:t>
            </a:r>
          </a:p>
          <a:p>
            <a:pPr>
              <a:defRPr sz="1400">
                <a:solidFill>
                  <a:srgbClr val="0F172A"/>
                </a:solidFill>
                <a:latin typeface="Calibri"/>
              </a:defRPr>
            </a:pPr>
            <a:r>
              <a:t>Si una provincia tiene alumnos asociados, SQL Server no te deja borrar esa provincia porque romperías la FK (quedarían alumnos sin provincia).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75687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34155"/>
                </a:solidFill>
                <a:latin typeface="Calibri"/>
              </a:rPr>
              <a:t>Intento de borrar la tabla madre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31720"/>
            <a:ext cx="10972800" cy="2468880"/>
          </a:xfrm>
          <a:prstGeom prst="roundRect">
            <a:avLst/>
          </a:prstGeom>
          <a:solidFill>
            <a:srgbClr val="0B1020"/>
          </a:solidFill>
          <a:ln>
            <a:solidFill>
              <a:srgbClr val="0B1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E2E8F0"/>
                </a:solidFill>
                <a:latin typeface="Consolas"/>
              </a:defRPr>
            </a:pPr>
            <a:r>
              <a:t>-- Esto fallará si hay alumnos con IdProvincia = 1</a:t>
            </a:r>
            <a:br/>
            <a:r>
              <a:t>DELETE FROM Provincias</a:t>
            </a:r>
            <a:br/>
            <a:r>
              <a:t>WHERE IdProvincia = 1;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81888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34155"/>
                </a:solidFill>
                <a:latin typeface="Calibri"/>
              </a:rPr>
              <a:t>Solución habitual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074920"/>
            <a:ext cx="10972800" cy="1554480"/>
          </a:xfrm>
          <a:prstGeom prst="roundRect">
            <a:avLst/>
          </a:prstGeom>
          <a:solidFill>
            <a:srgbClr val="0B1020"/>
          </a:solidFill>
          <a:ln>
            <a:solidFill>
              <a:srgbClr val="0B1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E2E8F0"/>
                </a:solidFill>
                <a:latin typeface="Consolas"/>
              </a:defRPr>
            </a:pPr>
            <a:r>
              <a:t>-- Orden correcto:</a:t>
            </a:r>
            <a:br/>
            <a:r>
              <a:t>-- 1) borrar/actualizar antes en la HIJA, y luego en la MADRE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47120" cy="9144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510528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Calibri"/>
              </a:rPr>
              <a:t>Módulo 3 · SQL Server · DML (SELECT/INSERT/UPDATE/DELETE)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Calibri"/>
              </a:rPr>
              <a:t>Mini práctica (10-15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34155"/>
                </a:solidFill>
                <a:latin typeface="Calibri"/>
              </a:rPr>
              <a:t>Crea datos y lánzate con consultas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1) Inserta 4 provincias (Madrid, Barcelona, Sevilla, Valencia).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2) Inserta al menos 6 alumnos repartidos entre provincias.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3) Haz un SELECT con JOIN para listar alumnos + provincia.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4) Actualiza: cambia un alumno de provincia.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5) Borra: elimina un alumno concreto.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6) Comprueba qué ocurre si intentas borrar una provincia que aún tiene alumnos.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550407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34155"/>
                </a:solidFill>
                <a:latin typeface="Calibri"/>
              </a:rPr>
              <a:t>Comprobación rápida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806440"/>
            <a:ext cx="10972800" cy="914400"/>
          </a:xfrm>
          <a:prstGeom prst="roundRect">
            <a:avLst/>
          </a:prstGeom>
          <a:solidFill>
            <a:srgbClr val="0B1020"/>
          </a:solidFill>
          <a:ln>
            <a:solidFill>
              <a:srgbClr val="0B1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E2E8F0"/>
                </a:solidFill>
                <a:latin typeface="Consolas"/>
              </a:defRPr>
            </a:pPr>
            <a:r>
              <a:t>-- Tip: primero mira los IDs</a:t>
            </a:r>
            <a:br/>
            <a:r>
              <a:t>SELECT * FROM Provincias;</a:t>
            </a:r>
            <a:br/>
            <a:r>
              <a:t>SELECT * FROM Alumnos;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73952"/>
            <a:ext cx="11247120" cy="9144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Calibri"/>
              </a:rPr>
              <a:t>Módulo 3 · SQL Server · DML (SELECT/INSERT/UPDATE/DELETE)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Calibri"/>
              </a:rPr>
              <a:t>Chuleta rápida DML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34155"/>
                </a:solidFill>
                <a:latin typeface="Calibri"/>
              </a:rPr>
              <a:t>Patrones típicos para el día a día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43000"/>
            <a:ext cx="10972800" cy="5120640"/>
          </a:xfrm>
          <a:prstGeom prst="roundRect">
            <a:avLst/>
          </a:prstGeom>
          <a:solidFill>
            <a:srgbClr val="0B1020"/>
          </a:solidFill>
          <a:ln>
            <a:solidFill>
              <a:srgbClr val="0B1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E2E8F0"/>
                </a:solidFill>
                <a:latin typeface="Consolas"/>
              </a:defRPr>
            </a:pPr>
            <a:r>
              <a:t>-- SELECT</a:t>
            </a:r>
            <a:br/>
            <a:r>
              <a:t>SELECT col1, col2 FROM Tabla WHERE condicion ORDER BY col;</a:t>
            </a:r>
            <a:br/>
            <a:br/>
            <a:r>
              <a:t>-- INSERT</a:t>
            </a:r>
            <a:br/>
            <a:r>
              <a:t>INSERT INTO Tabla (col1, col2) VALUES (v1, v2);</a:t>
            </a:r>
            <a:br/>
            <a:br/>
            <a:r>
              <a:t>-- UPDATE</a:t>
            </a:r>
            <a:br/>
            <a:r>
              <a:t>UPDATE Tabla SET col1 = nuevoValor WHERE condicion;</a:t>
            </a:r>
            <a:br/>
            <a:br/>
            <a:r>
              <a:t>-- DELETE</a:t>
            </a:r>
            <a:br/>
            <a:r>
              <a:t>DELETE FROM Tabla WHERE condicion;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6355080"/>
            <a:ext cx="10972800" cy="82296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563EB"/>
                </a:solidFill>
                <a:latin typeface="Calibri"/>
              </a:rPr>
              <a:t>Regla de oro</a:t>
            </a:r>
          </a:p>
          <a:p>
            <a:pPr>
              <a:defRPr sz="1400">
                <a:solidFill>
                  <a:srgbClr val="0F172A"/>
                </a:solidFill>
                <a:latin typeface="Calibri"/>
              </a:defRPr>
            </a:pPr>
            <a:r>
              <a:t>Antes de UPDATE/DELETE: ejecuta un SELECT con el mismo WHERE. Si el SELECT devuelve lo que quieres tocar, entonces ejecuta el cambio.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73952"/>
            <a:ext cx="11247120" cy="9144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10528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Calibri"/>
              </a:rPr>
              <a:t>Módulo 3 · SQL Server · DML (SELECT/INSERT/UPDATE/DELETE)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